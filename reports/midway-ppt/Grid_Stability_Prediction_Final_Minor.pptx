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⚡ Grid Stability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Transient Stability Assessment &amp; Critical Clearing Time Estimation</a:t>
            </a:r>
          </a:p>
          <a:p>
            <a:r>
              <a:t>on the IEEE 39-Bus New England Test System</a:t>
            </a:r>
          </a:p>
          <a:p/>
          <a:p>
            <a:r>
              <a:t>Department of Electrical Engineering</a:t>
            </a:r>
          </a:p>
          <a:p>
            <a:r>
              <a:t>National Institute of Technology (NIT), Raipur</a:t>
            </a:r>
          </a:p>
          <a:p/>
          <a:p>
            <a:r>
              <a:t>Prepared By (7th Semester Minor Project):</a:t>
            </a:r>
          </a:p>
          <a:p>
            <a:r>
              <a:t>• Sanskar Gupta (Roll No: 23117091)</a:t>
            </a:r>
          </a:p>
          <a:p>
            <a:r>
              <a:t>• Daksh Tripathi (Roll No: 23117036)</a:t>
            </a:r>
          </a:p>
          <a:p>
            <a:r>
              <a:t>• Karandeep Taram (Roll No: 23117052)</a:t>
            </a:r>
          </a:p>
          <a:p>
            <a:r>
              <a:t>• Veena Gupta (Roll No: 23117112)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Problem Formulation &amp; Real-World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Transient Rotor Angle Stability:</a:t>
            </a:r>
          </a:p>
          <a:p>
            <a:pPr lvl="1">
              <a:defRPr sz="1600"/>
            </a:pPr>
            <a:r>
              <a:t>Severe disturbances (faults, line trips) cause synchronous generators to swing.</a:t>
            </a:r>
          </a:p>
          <a:p>
            <a:pPr lvl="1">
              <a:defRPr sz="1600"/>
            </a:pPr>
            <a:r>
              <a:t>Large angular separations result in pole slips, protective relay cascading, and massive blackouts.</a:t>
            </a:r>
          </a:p>
          <a:p>
            <a:pPr>
              <a:defRPr sz="1800" b="1"/>
            </a:pPr>
            <a:r>
              <a:t>Traditional Time-Domain Simulation (TDS):</a:t>
            </a:r>
          </a:p>
          <a:p>
            <a:pPr lvl="1">
              <a:defRPr sz="1600"/>
            </a:pPr>
            <a:r>
              <a:t>Solves high-dimensional non-linear DAEs: dx/dt = f(x, y, u), 0 = g(x, y, u).</a:t>
            </a:r>
          </a:p>
          <a:p>
            <a:pPr lvl="1">
              <a:defRPr sz="1600"/>
            </a:pPr>
            <a:r>
              <a:t>Numerically exact, but computationally slow (takes 15-30s per scenario).</a:t>
            </a:r>
          </a:p>
          <a:p>
            <a:pPr lvl="1">
              <a:defRPr sz="1600"/>
            </a:pPr>
            <a:r>
              <a:t>Incompatible with real-time online Dynamic Security Assessment (DSA).</a:t>
            </a:r>
          </a:p>
          <a:p>
            <a:pPr>
              <a:defRPr sz="1800" b="1"/>
            </a:pPr>
            <a:r>
              <a:t>Machine Learning Objective:</a:t>
            </a:r>
          </a:p>
          <a:p>
            <a:pPr lvl="1">
              <a:defRPr sz="1600"/>
            </a:pPr>
            <a:r>
              <a:t>Instantaneous millisecond inference directly mapping post-fault telemetry to stability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Central Research Question: Beyond Random Splits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The Standard Literature Flaw:</a:t>
            </a:r>
          </a:p>
          <a:p>
            <a:pPr lvl="1">
              <a:defRPr sz="1600"/>
            </a:pPr>
            <a:r>
              <a:t>Almost all academic publications benchmark on random 80/20 train/test splits.</a:t>
            </a:r>
          </a:p>
          <a:p>
            <a:pPr lvl="1">
              <a:defRPr sz="1600"/>
            </a:pPr>
            <a:r>
              <a:t>Random splits leak identical topologies and operating conditions into the test set.</a:t>
            </a:r>
          </a:p>
          <a:p>
            <a:pPr lvl="1">
              <a:defRPr sz="1600"/>
            </a:pPr>
            <a:r>
              <a:t>Generates a dangerous 'false sense of near-100% security'.</a:t>
            </a:r>
          </a:p>
          <a:p>
            <a:pPr>
              <a:defRPr sz="1800" b="1"/>
            </a:pPr>
            <a:r>
              <a:t>Our Central Research Question:</a:t>
            </a:r>
          </a:p>
          <a:p>
            <a:pPr lvl="1">
              <a:defRPr sz="1600"/>
            </a:pPr>
            <a:r>
              <a:t>Can an ML model trained on one set of operating conditions and disturbances generalize to unseen fault buses, extreme load levels, and N-1 contingencies?</a:t>
            </a:r>
          </a:p>
          <a:p>
            <a:pPr>
              <a:defRPr sz="1800" b="1"/>
            </a:pPr>
            <a:r>
              <a:t>Domain Generalization Framework:</a:t>
            </a:r>
          </a:p>
          <a:p>
            <a:pPr lvl="1">
              <a:defRPr sz="1600"/>
            </a:pPr>
            <a:r>
              <a:t>We reject random splits and evaluate deliberate out-of-distribution (OOD) topological and operational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System Architecture &amp; Simulation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Test Benchmark: IEEE 39-Bus New England System</a:t>
            </a:r>
          </a:p>
          <a:p>
            <a:pPr lvl="1">
              <a:defRPr sz="1600"/>
            </a:pPr>
            <a:r>
              <a:t>10 Synchronous Machines (GENROU 6th-order models with IEEE-T1 exciters).</a:t>
            </a:r>
          </a:p>
          <a:p>
            <a:pPr lvl="1">
              <a:defRPr sz="1600"/>
            </a:pPr>
            <a:r>
              <a:t>39 Buses, 46 Transmission Lines / Transformers, 19 PQ Loads.</a:t>
            </a:r>
          </a:p>
          <a:p>
            <a:pPr>
              <a:defRPr sz="1800" b="1"/>
            </a:pPr>
            <a:r>
              <a:t>Simulation Engine: ANDES (Python-native DAE Solver)</a:t>
            </a:r>
          </a:p>
          <a:p>
            <a:pPr lvl="1">
              <a:defRPr sz="1600"/>
            </a:pPr>
            <a:r>
              <a:t>Open-source, pip-installable, license-free, 100% reproducible.</a:t>
            </a:r>
          </a:p>
          <a:p>
            <a:pPr>
              <a:defRPr sz="1800" b="1"/>
            </a:pPr>
            <a:r>
              <a:t>Multi-Processing Dataset Generation Harness:</a:t>
            </a:r>
          </a:p>
          <a:p>
            <a:pPr lvl="1">
              <a:defRPr sz="1600"/>
            </a:pPr>
            <a:r>
              <a:t>450 scenarios simulated in parallel using ProcessPoolExecutor.</a:t>
            </a:r>
          </a:p>
          <a:p>
            <a:pPr lvl="1">
              <a:defRPr sz="1600"/>
            </a:pPr>
            <a:r>
              <a:t>Fault clearing time: 0.05s to 0.30s.</a:t>
            </a:r>
          </a:p>
          <a:p>
            <a:pPr lvl="1">
              <a:defRPr sz="1600"/>
            </a:pPr>
            <a:r>
              <a:t>System load scaling: 80% to 120% nominal.</a:t>
            </a:r>
          </a:p>
          <a:p>
            <a:pPr lvl="1">
              <a:defRPr sz="1600"/>
            </a:pPr>
            <a:r>
              <a:t>N-1 Transmission Line Contingencies: Line 2-3, Line 16-17.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Ground Truth Stability Labeling: COI 180°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Center of Inertia (COI) Reference Frame:</a:t>
            </a:r>
          </a:p>
          <a:p>
            <a:pPr lvl="1">
              <a:defRPr sz="1600"/>
            </a:pPr>
            <a:r>
              <a:t>Generator rotor angles naturally swing together; evaluating absolute angle is insufficient.</a:t>
            </a:r>
          </a:p>
          <a:p>
            <a:pPr lvl="1">
              <a:defRPr sz="1600"/>
            </a:pPr>
            <a:r>
              <a:t>COI angle: δ_COI(t) = (Σ H_i * δ_i(t)) / (Σ H_i).</a:t>
            </a:r>
          </a:p>
          <a:p>
            <a:pPr>
              <a:defRPr sz="1800" b="1"/>
            </a:pPr>
            <a:r>
              <a:t>Binary Classification Ground Truth:</a:t>
            </a:r>
          </a:p>
          <a:p>
            <a:pPr lvl="1">
              <a:defRPr sz="1600"/>
            </a:pPr>
            <a:r>
              <a:t>UNSTABLE (0): If maximum generator deviation from COI exceeds 180 degrees during transient window (t in [0, 20s]), or numerical divergence occurs.</a:t>
            </a:r>
          </a:p>
          <a:p>
            <a:pPr lvl="1">
              <a:defRPr sz="1600"/>
            </a:pPr>
            <a:r>
              <a:t>STABLE (1): If all machines remain synchronized within 180 degrees of the COI.</a:t>
            </a:r>
          </a:p>
          <a:p>
            <a:pPr>
              <a:defRPr sz="1800" b="1"/>
            </a:pPr>
            <a:r>
              <a:t>Class Distribution:</a:t>
            </a:r>
          </a:p>
          <a:p>
            <a:pPr lvl="1">
              <a:defRPr sz="1600"/>
            </a:pPr>
            <a:r>
              <a:t>308 Stable cases (68.4%) vs 142 Unstable cases (31.6%).</a:t>
            </a:r>
          </a:p>
          <a:p>
            <a:pPr lvl="1">
              <a:defRPr sz="1600"/>
            </a:pPr>
            <a:r>
              <a:t>Achieved a highly realistic natural 2:1 imbalance.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EDA: Physical Validation of Simulation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stability_vs_clear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Physical Validation Confirmed: Longer fault clearing times drastically increase the probability of system instability.</a:t>
            </a:r>
          </a:p>
          <a:p>
            <a:pPr>
              <a:defRPr sz="1300" b="0"/>
            </a:pPr>
            <a:r>
              <a:t>Faults cleared under 0.10s are 100% stable; faults lingering to 0.30s destabilize the grid.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Baseline Models: Standard Random Split (The Illusion)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baseline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15361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In-Distribution Evaluation: Logistic Regression (100%), Random Forest (100%), XGBoost (98.9%), MLP (100%).</a:t>
            </a:r>
          </a:p>
          <a:p>
            <a:pPr>
              <a:defRPr sz="1300" b="0"/>
            </a:pPr>
            <a:r>
              <a:t>Under standard random splits, models achieve near-perfection with zero missed instabilities.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The Core Contribution: The Generalization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generaliza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2224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Out-of-Distribution Benchmarking Across 3 Held-Out Splits:</a:t>
            </a:r>
          </a:p>
          <a:p>
            <a:pPr>
              <a:defRPr sz="1300" b="0"/>
            </a:pPr>
            <a:r>
              <a:t>1. Held-Out Buses: RF accuracy drops on unseen Bus 39. MLP achieves 98.33% accuracy.</a:t>
            </a:r>
          </a:p>
          <a:p>
            <a:pPr>
              <a:defRPr sz="1300" b="0"/>
            </a:pPr>
            <a:r>
              <a:t>2. Held-Out Heavy Loads: XGBoost collapses to 63.89% (tree step saturation); MLP maintains 97.78% (smooth extrapolation).</a:t>
            </a:r>
          </a:p>
          <a:p>
            <a:pPr>
              <a:defRPr sz="1300" b="0"/>
            </a:pPr>
            <a:r>
              <a:t>3. Held-Out Line Outage: Tree models adapt well (100%); linear models miss non-linear Y_bus cuts (96%).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Critical Reliability Metric: Missed Instability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generalization_missed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Power System Operational Risk: Predicting Unstable as Stable leads to catastrophic blackouts.</a:t>
            </a:r>
          </a:p>
          <a:p>
            <a:pPr>
              <a:defRPr sz="1300" b="0"/>
            </a:pPr>
            <a:r>
              <a:t>Random Forest missed 15.2% of instabilities on unseen buses without physics features.</a:t>
            </a:r>
          </a:p>
          <a:p>
            <a:pPr>
              <a:defRPr sz="1300" b="0"/>
            </a:pPr>
            <a:r>
              <a:t>Physics-Informed Invariant Features reduced this failure rate by more than half (down to 7.1%).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Critical Clearing Time (CCT) ML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cct_par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Ground-Truth from ANDES Bisection Search across 45 operating conditions.</a:t>
            </a:r>
          </a:p>
          <a:p>
            <a:pPr>
              <a:defRPr sz="1300" b="0"/>
            </a:pPr>
            <a:r>
              <a:t>ML Regressor achieves R² = 0.9636 and RMSE = 25 milliseconds (under 1.5 electrical cycles).</a:t>
            </a:r>
          </a:p>
          <a:p>
            <a:pPr>
              <a:defRPr sz="1300" b="0"/>
            </a:pPr>
            <a:r>
              <a:t>Enables continuous dynamic security margins rather than just binary labels.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Headline Finding: &gt;33,000x Operational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cct_spee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Numerical ANDES Bisection Search: 23.88 seconds per operating condition.</a:t>
            </a:r>
          </a:p>
          <a:p>
            <a:pPr>
              <a:defRPr sz="1300" b="0"/>
            </a:pPr>
            <a:r>
              <a:t>Machine Learning Inference: 0.70 milliseconds (XGBoost) / 0.04 milliseconds (Ridge).</a:t>
            </a:r>
          </a:p>
          <a:p>
            <a:pPr>
              <a:defRPr sz="1300" b="0"/>
            </a:pPr>
            <a:r>
              <a:t>Speedup Factor: &gt;33,000x faster — transforming offline simulation into real-time online DSA.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Model Explainability via TreeSHAP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shap_summary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6598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Physics Verification via Cooperative Game Theory:</a:t>
            </a:r>
          </a:p>
          <a:p>
            <a:pPr>
              <a:defRPr sz="1300" b="0"/>
            </a:pPr>
            <a:r>
              <a:t>1. v_mean_system (|SHAP|=3.75) and v_min_system dominate predictions.</a:t>
            </a:r>
          </a:p>
          <a:p>
            <a:pPr>
              <a:defRPr sz="1300" b="0"/>
            </a:pPr>
            <a:r>
              <a:t>2. Confirms strict adherence to Swing Equation: Deep voltage sag collapses electrical power Pe, driving generator acceleration.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Local Explainability: Stable vs Unstable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  <p:pic>
        <p:nvPicPr>
          <p:cNvPr id="4" name="Picture 3" descr="shap_waterfall_un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854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035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Individual Scenario Attribution: Decomposes exact contribution of clearing time, voltage sag, and bus location.</a:t>
            </a:r>
          </a:p>
          <a:p>
            <a:pPr>
              <a:defRPr sz="1300" b="0"/>
            </a:pPr>
            <a:r>
              <a:t>Provides human transmission operators with actionable reasoning before executing remedial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Interactive Digital Twin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Streamlit Interactive Dashboard (`app/streamlit_app.py`):</a:t>
            </a:r>
          </a:p>
          <a:p>
            <a:pPr lvl="1">
              <a:defRPr sz="1600"/>
            </a:pPr>
            <a:r>
              <a:t>Real-time reactive prediction interface running at localhost:8501.</a:t>
            </a:r>
          </a:p>
          <a:p>
            <a:pPr>
              <a:defRPr sz="1800" b="1"/>
            </a:pPr>
            <a:r>
              <a:t>Core Dashboard Features:</a:t>
            </a:r>
          </a:p>
          <a:p>
            <a:pPr lvl="1">
              <a:defRPr sz="1600"/>
            </a:pPr>
            <a:r>
              <a:t>Dynamic Scenario Sliders: Fault Bus, Load Scale (0.8x-1.3x), Clearing Time (0.04s-0.40s).</a:t>
            </a:r>
          </a:p>
          <a:p>
            <a:pPr lvl="1">
              <a:defRPr sz="1600"/>
            </a:pPr>
            <a:r>
              <a:t>Real-Time Stability Gauge: Instant STABLE (Green) vs UNSTABLE POLE SLIP (Red).</a:t>
            </a:r>
          </a:p>
          <a:p>
            <a:pPr lvl="1">
              <a:defRPr sz="1600"/>
            </a:pPr>
            <a:r>
              <a:t>Dynamic CCT Safety Margin Meter: Displays safety margin (t_cct - t_clear in ms).</a:t>
            </a:r>
          </a:p>
          <a:p>
            <a:pPr lvl="1">
              <a:defRPr sz="1600"/>
            </a:pPr>
            <a:r>
              <a:t>Live SHAP Waterfall Attribution: Real-time decomposition of contributing risk factors.</a:t>
            </a:r>
          </a:p>
          <a:p>
            <a:pPr lvl="1">
              <a:defRPr sz="1600"/>
            </a:pPr>
            <a:r>
              <a:t>Pre-canned Scenarios: Safe Nominal, High-Stress Staged Fault, Generator Terminal 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Engineering Rigor: Architecture Decision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Formally Documented 7 ADRs (`docs/adr/`):</a:t>
            </a:r>
          </a:p>
          <a:p>
            <a:pPr lvl="1">
              <a:defRPr sz="1600"/>
            </a:pPr>
            <a:r>
              <a:t>ADR-0001: ANDES Simulator &amp; IEEE 39-Bus Benchmark Selection</a:t>
            </a:r>
          </a:p>
          <a:p>
            <a:pPr lvl="1">
              <a:defRPr sz="1600"/>
            </a:pPr>
            <a:r>
              <a:t>ADR-0002: Ground Truth Labeling via COI 180° Rotor Deviation Rule</a:t>
            </a:r>
          </a:p>
          <a:p>
            <a:pPr lvl="1">
              <a:defRPr sz="1600"/>
            </a:pPr>
            <a:r>
              <a:t>ADR-0003: Domain Generalization Protocol (Rejecting Random Train/Test Splits)</a:t>
            </a:r>
          </a:p>
          <a:p>
            <a:pPr lvl="1">
              <a:defRPr sz="1600"/>
            </a:pPr>
            <a:r>
              <a:t>ADR-0004: Neural Network (MLP) Convergence &amp; Stress Extrapolation Analysis</a:t>
            </a:r>
          </a:p>
          <a:p>
            <a:pPr lvl="1">
              <a:defRPr sz="1600"/>
            </a:pPr>
            <a:r>
              <a:t>ADR-0005: Physics-Informed Invariant Feature Engineering (Equal Area Criterion)</a:t>
            </a:r>
          </a:p>
          <a:p>
            <a:pPr lvl="1">
              <a:defRPr sz="1600"/>
            </a:pPr>
            <a:r>
              <a:t>ADR-0006: TreeSHAP Interpretability &amp; Swing Equation Physical Validation</a:t>
            </a:r>
          </a:p>
          <a:p>
            <a:pPr lvl="1">
              <a:defRPr sz="1600"/>
            </a:pPr>
            <a:r>
              <a:t>ADR-0007: CCT Bisection Search Ground Truth &amp; &gt;33,000x Speedup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Conclusion &amp; 8th Semester Continuation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 b="1"/>
            </a:pPr>
            <a:r>
              <a:t>Minor Project Wrap-up Summary:</a:t>
            </a:r>
          </a:p>
          <a:p>
            <a:pPr lvl="1">
              <a:defRPr sz="1600"/>
            </a:pPr>
            <a:r>
              <a:t>Built end-to-end simulation, dataset, ML classification, CCT regression, XAI, and web demo.</a:t>
            </a:r>
          </a:p>
          <a:p>
            <a:pPr lvl="1">
              <a:defRPr sz="1600"/>
            </a:pPr>
            <a:r>
              <a:t>Answered Central Research Question: Proved why standard ML collapses under domain shift and how physics features mitigate it.</a:t>
            </a:r>
          </a:p>
          <a:p>
            <a:pPr lvl="1">
              <a:defRPr sz="1600"/>
            </a:pPr>
            <a:r>
              <a:t>Delivered 33,000x inference speedup for online Dynamic Security Assessment.</a:t>
            </a:r>
          </a:p>
          <a:p>
            <a:pPr>
              <a:defRPr sz="1800" b="1"/>
            </a:pPr>
            <a:r>
              <a:t>Major Project (8th Semester Continuation Roadmap):</a:t>
            </a:r>
          </a:p>
          <a:p>
            <a:pPr lvl="1">
              <a:defRPr sz="1600"/>
            </a:pPr>
            <a:r>
              <a:t>Spatio-temporal Graph Neural Networks (GNNs) incorporating the bus admittance matrix Y_bus directly.</a:t>
            </a:r>
          </a:p>
          <a:p>
            <a:pPr lvl="1">
              <a:defRPr sz="1600"/>
            </a:pPr>
            <a:r>
              <a:t>Self-supervised World Models (JEPA) pre-trained on multi-channel Phasor Measurement Unit (PMU) time-series streams.</a:t>
            </a:r>
          </a:p>
          <a:p>
            <a:pPr lvl="1">
              <a:defRPr sz="1600"/>
            </a:pPr>
            <a:r>
              <a:t>Active remedial control action integration (emergency load shedding, fast battery response).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6E78"/>
                </a:solidFill>
              </a:defRPr>
            </a:pPr>
            <a:r>
              <a:t>NIT RAIPUR • EE MINOR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