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metadata:title-kicker"/>
          <p:cNvSpPr txBox="1"/>
          <p:nvPr/>
        </p:nvSpPr>
        <p:spPr>
          <a:xfrm>
            <a:off x="731520" y="59664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 RAIPUR • ELECTRICAL ENGINEERING</a:t>
            </a:r>
            <a:endParaRPr lang="en-US" sz="900" dirty="0"/>
          </a:p>
        </p:txBody>
      </p:sp>
      <p:sp>
        <p:nvSpPr>
          <p:cNvPr id="6" name="decorative:role-contract-accent:title:heading"/>
          <p:cNvSpPr/>
          <p:nvPr/>
        </p:nvSpPr>
        <p:spPr>
          <a:xfrm>
            <a:off x="731520" y="816102"/>
            <a:ext cx="1051560" cy="411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lide-title:title"/>
          <p:cNvSpPr txBox="1"/>
          <p:nvPr/>
        </p:nvSpPr>
        <p:spPr>
          <a:xfrm>
            <a:off x="731520" y="925830"/>
            <a:ext cx="713232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6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Stability Prediction &amp; CCT Estimation</a:t>
            </a:r>
            <a:endParaRPr lang="en-US" sz="3606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20315"/>
            <a:ext cx="45720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Physics-Guided Machine Learning on IEEE 39-Bus New England System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Semester) • Academic Year 2026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Sanskar Gupta • Daksh Tripathi • Karandeep Taram • Veena Gupta</a:t>
            </a:r>
            <a:endParaRPr lang="en-US" sz="900" dirty="0"/>
          </a:p>
        </p:txBody>
      </p:sp>
      <p:sp>
        <p:nvSpPr>
          <p:cNvPr id="1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91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Computational Bottleneck in Dynamic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1055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conventional Time-Domain Simulation fails to meet real-time grid operation demands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1D5DB">
              <a:alpha val="26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03096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role-contract-slot:comparison:option-0"/>
          <p:cNvSpPr/>
          <p:nvPr/>
        </p:nvSpPr>
        <p:spPr>
          <a:xfrm>
            <a:off x="457200" y="1695704"/>
            <a:ext cx="3867912" cy="2917444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1" name="comparison:0:title"/>
          <p:cNvSpPr txBox="1"/>
          <p:nvPr/>
        </p:nvSpPr>
        <p:spPr>
          <a:xfrm>
            <a:off x="603504" y="1842008"/>
            <a:ext cx="35753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Conventional Simulation (TDS)</a:t>
            </a:r>
            <a:endParaRPr lang="en-US" sz="1500" dirty="0"/>
          </a:p>
        </p:txBody>
      </p:sp>
      <p:sp>
        <p:nvSpPr>
          <p:cNvPr id="12" name="comparison:0:body"/>
          <p:cNvSpPr txBox="1"/>
          <p:nvPr/>
        </p:nvSpPr>
        <p:spPr>
          <a:xfrm>
            <a:off x="603504" y="2314448"/>
            <a:ext cx="3575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non-linear DAEs via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integration.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20–30s per scenario 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39-bus network.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Intractable for real-time dynamic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assessment.</a:t>
            </a:r>
            <a:endParaRPr lang="en-US" sz="1500" dirty="0"/>
          </a:p>
        </p:txBody>
      </p:sp>
      <p:sp>
        <p:nvSpPr>
          <p:cNvPr id="13" name="role-contract-slot:comparison:option-1"/>
          <p:cNvSpPr/>
          <p:nvPr/>
        </p:nvSpPr>
        <p:spPr>
          <a:xfrm>
            <a:off x="4818888" y="1695704"/>
            <a:ext cx="3867912" cy="2917444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4" name="comparison:1:title"/>
          <p:cNvSpPr txBox="1"/>
          <p:nvPr/>
        </p:nvSpPr>
        <p:spPr>
          <a:xfrm>
            <a:off x="4965192" y="1842008"/>
            <a:ext cx="35753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Physics-Guided Machine Learning</a:t>
            </a:r>
            <a:endParaRPr lang="en-US" sz="1500" dirty="0"/>
          </a:p>
        </p:txBody>
      </p:sp>
      <p:sp>
        <p:nvSpPr>
          <p:cNvPr id="15" name="comparison:1:body"/>
          <p:cNvSpPr txBox="1"/>
          <p:nvPr/>
        </p:nvSpPr>
        <p:spPr>
          <a:xfrm>
            <a:off x="4965192" y="2314448"/>
            <a:ext cx="3575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post-fault rotor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and CCT directly.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inference (&lt;1 ms)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EMS/SCADA.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Incorporates Equal Area Criterion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invariants.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Kundur, Power System Stability (1994) • IEEE PES Benchmark Reports</a:t>
            </a:r>
            <a:endParaRPr lang="en-US" sz="900" dirty="0"/>
          </a:p>
        </p:txBody>
      </p:sp>
      <p:sp>
        <p:nvSpPr>
          <p:cNvPr id="18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Physics-to-ML Pipeline Architecture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632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Zero-license, 100% open-source software stack from numerical simulation to operator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8044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48436"/>
            <a:ext cx="777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graphicFrame>
        <p:nvGraphicFramePr>
          <p:cNvPr id="4" name="Editable table: Modular Physics-to-ML Pipeline Architectu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73048"/>
          <a:ext cx="6024067" cy="3394964"/>
        </p:xfrm>
        <a:graphic>
          <a:graphicData uri="http://schemas.openxmlformats.org/drawingml/2006/table">
            <a:tbl>
              <a:tblPr/>
              <a:tblGrid>
                <a:gridCol w="1571496"/>
                <a:gridCol w="1833412"/>
                <a:gridCol w="2619160"/>
              </a:tblGrid>
              <a:tr h="630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Pipeline Stage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Method &amp; Tooling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Engineering Function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30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Dynamic Simulation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ANDES (Python DAE solver)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 dynamic disturbance runs on IEEE 39-bus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74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Ground Truth Labeling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 180° Deviation Rule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Transient stability benchmark via rotor divergence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30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Physics Invariants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Area Criterion (EAC)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Synthesizes impulse (1 - v_min) * t_clear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30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ML Models &amp; Dashboard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XGBoost, MLP, SHAP, Streamlit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Classification, CCT speedup, XAI, Digital Twin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Cui et al., ANDES: Python Software for Power System Simulation (IEEE TPWRS, 2021)</a:t>
            </a:r>
            <a:endParaRPr lang="en-US" sz="900" dirty="0"/>
          </a:p>
        </p:txBody>
      </p:sp>
      <p:sp>
        <p:nvSpPr>
          <p:cNvPr id="1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Systematic Disturbance &amp; Contingency Space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632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scenario generation across loading, fault buses, and line trips</a:t>
            </a:r>
            <a:endParaRPr lang="en-US" sz="1300" dirty="0"/>
          </a:p>
        </p:txBody>
      </p:sp>
      <p:graphicFrame>
        <p:nvGraphicFramePr>
          <p:cNvPr id="5" name="Editable table: Systematic Disturbance &amp; Contingency Spa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73048"/>
          <a:ext cx="6024067" cy="3394964"/>
        </p:xfrm>
        <a:graphic>
          <a:graphicData uri="http://schemas.openxmlformats.org/drawingml/2006/table">
            <a:tbl>
              <a:tblPr/>
              <a:tblGrid>
                <a:gridCol w="1681135"/>
                <a:gridCol w="1821230"/>
                <a:gridCol w="2521703"/>
              </a:tblGrid>
              <a:tr h="362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Parameter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Sample Range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Grid Rationale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064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Load Factor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to 1.2 nominal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Diurnal demand and transfer stress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64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Faulted Buses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Buses 14, 16, 29, 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Generator, load, and tie-line buses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64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Clearing Times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0.05s to 0.35s (3 to 21 cycles)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clearing to delayed backup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64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N-1 Contingency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16-17 trip &amp; 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Post-contingency dynamic security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64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 Labels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 Stable / 142 Unstable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2.17:1 operational margin ratio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IEEE 39-Bus New England 10-Generator Benchmark</a:t>
            </a:r>
            <a:endParaRPr lang="en-US" sz="900" dirty="0"/>
          </a:p>
        </p:txBody>
      </p:sp>
      <p:sp>
        <p:nvSpPr>
          <p:cNvPr id="10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91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 &amp; Physical Sanity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1055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labels adhere to classical transient power-angle physics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92123"/>
            <a:ext cx="2377440" cy="3109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1403096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upport:scientific:A:title"/>
          <p:cNvSpPr txBox="1"/>
          <p:nvPr/>
        </p:nvSpPr>
        <p:spPr>
          <a:xfrm>
            <a:off x="530352" y="1723136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Stability vs Clearing Duration</a:t>
            </a:r>
            <a:endParaRPr lang="en-US" sz="1300" dirty="0"/>
          </a:p>
        </p:txBody>
      </p:sp>
      <p:pic>
        <p:nvPicPr>
          <p:cNvPr id="10" name="scientific:A:image" descr="d:\Sanskar\programming\projects\EE Minor Project\reports\figures\stability_vs_clearing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98" y="2099056"/>
            <a:ext cx="1844243" cy="1152652"/>
          </a:xfrm>
          <a:prstGeom prst="rect">
            <a:avLst/>
          </a:prstGeom>
        </p:spPr>
      </p:pic>
      <p:sp>
        <p:nvSpPr>
          <p:cNvPr id="11" name="metadata:scientific:A:caption"/>
          <p:cNvSpPr txBox="1"/>
          <p:nvPr/>
        </p:nvSpPr>
        <p:spPr>
          <a:xfrm>
            <a:off x="530352" y="3324860"/>
            <a:ext cx="3831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fault durations directly increase kinetic acceleration area and instability.</a:t>
            </a:r>
            <a:endParaRPr lang="en-US" sz="900" dirty="0"/>
          </a:p>
        </p:txBody>
      </p:sp>
      <p:sp>
        <p:nvSpPr>
          <p:cNvPr id="12" name="support:scientific:B:title"/>
          <p:cNvSpPr txBox="1"/>
          <p:nvPr/>
        </p:nvSpPr>
        <p:spPr>
          <a:xfrm>
            <a:off x="4782312" y="1723136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B. Operating Feature Distributions</a:t>
            </a:r>
            <a:endParaRPr lang="en-US" sz="1300" dirty="0"/>
          </a:p>
        </p:txBody>
      </p:sp>
      <p:pic>
        <p:nvPicPr>
          <p:cNvPr id="13" name="scientific:B:image" descr="d:\Sanskar\programming\projects\EE Minor Project\reports\figures\feature_distribu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58" y="2099056"/>
            <a:ext cx="1844243" cy="1152652"/>
          </a:xfrm>
          <a:prstGeom prst="rect">
            <a:avLst/>
          </a:prstGeom>
        </p:spPr>
      </p:pic>
      <p:sp>
        <p:nvSpPr>
          <p:cNvPr id="14" name="metadata:scientific:B:caption"/>
          <p:cNvSpPr txBox="1"/>
          <p:nvPr/>
        </p:nvSpPr>
        <p:spPr>
          <a:xfrm>
            <a:off x="4782312" y="3324860"/>
            <a:ext cx="3831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coverage across load scales, voltage sags, and fault buses.</a:t>
            </a:r>
            <a:endParaRPr lang="en-US" sz="900" dirty="0"/>
          </a:p>
        </p:txBody>
      </p:sp>
      <p:sp>
        <p:nvSpPr>
          <p:cNvPr id="15" name="scientific:complete-readout"/>
          <p:cNvSpPr txBox="1"/>
          <p:nvPr/>
        </p:nvSpPr>
        <p:spPr>
          <a:xfrm>
            <a:off x="585216" y="3974084"/>
            <a:ext cx="7973568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strictly conform to physical expectations: generator terminal faults and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clearing durations precipitate rapid loss of synchronism.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reports/figures/stability_vs_clearing_time.png • reports/figures/feature_distributions.png</a:t>
            </a:r>
            <a:endParaRPr lang="en-US" sz="900" dirty="0"/>
          </a:p>
        </p:txBody>
      </p:sp>
      <p:sp>
        <p:nvSpPr>
          <p:cNvPr id="18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91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Performance on Standard 80/20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Splits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1055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train/test splits show near-perfect metrics across all baseline architectures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03096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092"/>
            <a:ext cx="777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graphicFrame>
        <p:nvGraphicFramePr>
          <p:cNvPr id="7" name="Editable table: Baseline Performance on Standard 80/20 Random Spli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5704"/>
          <a:ext cx="6024067" cy="2972308"/>
        </p:xfrm>
        <a:graphic>
          <a:graphicData uri="http://schemas.openxmlformats.org/drawingml/2006/table">
            <a:tbl>
              <a:tblPr/>
              <a:tblGrid>
                <a:gridCol w="1915464"/>
                <a:gridCol w="1065018"/>
                <a:gridCol w="879800"/>
                <a:gridCol w="1042879"/>
                <a:gridCol w="1120905"/>
              </a:tblGrid>
              <a:tr h="594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 Architecture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 Accuracy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Macro F1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Unstable Recall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ROC-AUC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94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(L2)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4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(100 Trees)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94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(Gradient Boosted)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4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(MLP 64x32)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reports/baseline_results.json • Phase 3 Evaluation</a:t>
            </a:r>
            <a:endParaRPr lang="en-US" sz="900" dirty="0"/>
          </a:p>
        </p:txBody>
      </p:sp>
      <p:sp>
        <p:nvSpPr>
          <p:cNvPr id="1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Validation &amp; ROC Characteristics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632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cross-validated ROC curves and confusion matrices on IEEE 39-bus dataset</a:t>
            </a:r>
            <a:endParaRPr lang="en-US" sz="1300" dirty="0"/>
          </a:p>
        </p:txBody>
      </p:sp>
      <p:sp>
        <p:nvSpPr>
          <p:cNvPr id="7" name="support:scientific:A:title"/>
          <p:cNvSpPr txBox="1"/>
          <p:nvPr/>
        </p:nvSpPr>
        <p:spPr>
          <a:xfrm>
            <a:off x="530352" y="1300480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Cross-Validated ROC Curves</a:t>
            </a:r>
            <a:endParaRPr lang="en-US" sz="1300" dirty="0"/>
          </a:p>
        </p:txBody>
      </p:sp>
      <p:pic>
        <p:nvPicPr>
          <p:cNvPr id="8" name="scientific:A:image" descr="d:\Sanskar\programming\projects\EE Minor Project\reports\figures\baseline_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7263"/>
            <a:ext cx="3867912" cy="773582"/>
          </a:xfrm>
          <a:prstGeom prst="rect">
            <a:avLst/>
          </a:prstGeom>
        </p:spPr>
      </p:pic>
      <p:sp>
        <p:nvSpPr>
          <p:cNvPr id="9" name="metadata:scientific:A:caption"/>
          <p:cNvSpPr txBox="1"/>
          <p:nvPr/>
        </p:nvSpPr>
        <p:spPr>
          <a:xfrm>
            <a:off x="530352" y="3324860"/>
            <a:ext cx="3831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baseline architectures achieve near-perfect discrimination (AUC &gt; 0.999).</a:t>
            </a:r>
            <a:endParaRPr lang="en-US" sz="900" dirty="0"/>
          </a:p>
        </p:txBody>
      </p:sp>
      <p:sp>
        <p:nvSpPr>
          <p:cNvPr id="10" name="support:scientific:B:title"/>
          <p:cNvSpPr txBox="1"/>
          <p:nvPr/>
        </p:nvSpPr>
        <p:spPr>
          <a:xfrm>
            <a:off x="4782312" y="1300480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B. Test Set Confusion Matrices</a:t>
            </a:r>
            <a:endParaRPr lang="en-US" sz="1300" dirty="0"/>
          </a:p>
        </p:txBody>
      </p:sp>
      <p:pic>
        <p:nvPicPr>
          <p:cNvPr id="11" name="scientific:B:image" descr="d:\Sanskar\programming\projects\EE Minor Project\reports\figures\baseline_confusion_matri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150415"/>
            <a:ext cx="3867912" cy="773582"/>
          </a:xfrm>
          <a:prstGeom prst="rect">
            <a:avLst/>
          </a:prstGeom>
        </p:spPr>
      </p:pic>
      <p:sp>
        <p:nvSpPr>
          <p:cNvPr id="12" name="metadata:scientific:B:caption"/>
          <p:cNvSpPr txBox="1"/>
          <p:nvPr/>
        </p:nvSpPr>
        <p:spPr>
          <a:xfrm>
            <a:off x="4782312" y="3471164"/>
            <a:ext cx="3831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negatives on standard 80/20 random split test scenarios.</a:t>
            </a:r>
            <a:endParaRPr lang="en-US" sz="900" dirty="0"/>
          </a:p>
        </p:txBody>
      </p:sp>
      <p:sp>
        <p:nvSpPr>
          <p:cNvPr id="13" name="scientific:complete-readout"/>
          <p:cNvSpPr txBox="1"/>
          <p:nvPr/>
        </p:nvSpPr>
        <p:spPr>
          <a:xfrm>
            <a:off x="585216" y="3974084"/>
            <a:ext cx="7973568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standard evaluation indicates near-perfect classification, real power systems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encounter identical operating points during major disturbances.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reports/figures/baseline_roc_curves.png • reports/figures/baseline_confusion_matrices.png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91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Generalization Collapse on Out-of-Distribution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Conditions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1055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models where random splits fail: Unseen Buses, Heavy Loads, and Line Outages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92123"/>
            <a:ext cx="2377440" cy="3109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1403096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9" name="Editable table: Generalization Collapse on Out-of-Distribution Condi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5704"/>
          <a:ext cx="6024067" cy="2972308"/>
        </p:xfrm>
        <a:graphic>
          <a:graphicData uri="http://schemas.openxmlformats.org/drawingml/2006/table">
            <a:tbl>
              <a:tblPr/>
              <a:tblGrid>
                <a:gridCol w="1396029"/>
                <a:gridCol w="1086291"/>
                <a:gridCol w="1089285"/>
                <a:gridCol w="1075524"/>
                <a:gridCol w="1376939"/>
              </a:tblGrid>
              <a:tr h="5601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Held-Out Test Split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Random Forest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XGBoost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Neural Net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Vulnerability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8040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Unseen Buses (29, 39)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0.908 (7.1% Err)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0.940 (6.1% Err)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0.983 (0% Err)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acceleration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040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Unseen Heavy Load (1.1-1.2)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0.814 (15.8% Err)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0.639 (31.6% Err)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0.978 (2.6% Err)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step saturation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8040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Unseen Outage (Line 16-17)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0.957 (3.7% Err)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0.957 (3.7% Err)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0.985 (0% Err)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impedance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research/generalization-study.md • reports/generalization_summary.csv</a:t>
            </a:r>
            <a:endParaRPr lang="en-US" sz="900" dirty="0"/>
          </a:p>
        </p:txBody>
      </p:sp>
      <p:sp>
        <p:nvSpPr>
          <p:cNvPr id="1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91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Quantifying Generalization Gap &amp; Missed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Instability Risks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1055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performance divergence between tree ensembles and neural architectures</a:t>
            </a:r>
            <a:endParaRPr lang="en-US" sz="1300" dirty="0"/>
          </a:p>
        </p:txBody>
      </p:sp>
      <p:sp>
        <p:nvSpPr>
          <p:cNvPr id="7" name="support:scientific:A:title"/>
          <p:cNvSpPr txBox="1"/>
          <p:nvPr/>
        </p:nvSpPr>
        <p:spPr>
          <a:xfrm>
            <a:off x="530352" y="1723136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Generalization Gap (Drop in F1)</a:t>
            </a:r>
            <a:endParaRPr lang="en-US" sz="1300" dirty="0"/>
          </a:p>
        </p:txBody>
      </p:sp>
      <p:pic>
        <p:nvPicPr>
          <p:cNvPr id="8" name="scientific:A:image" descr="d:\Sanskar\programming\projects\EE Minor Project\reports\figures\generalization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115227"/>
            <a:ext cx="3867912" cy="1120310"/>
          </a:xfrm>
          <a:prstGeom prst="rect">
            <a:avLst/>
          </a:prstGeom>
        </p:spPr>
      </p:pic>
      <p:sp>
        <p:nvSpPr>
          <p:cNvPr id="9" name="metadata:scientific:A:caption"/>
          <p:cNvSpPr txBox="1"/>
          <p:nvPr/>
        </p:nvSpPr>
        <p:spPr>
          <a:xfrm>
            <a:off x="530352" y="3324860"/>
            <a:ext cx="3831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drops by 34.8 F1-points when extrapolating to heavy load conditions.</a:t>
            </a:r>
            <a:endParaRPr lang="en-US" sz="900" dirty="0"/>
          </a:p>
        </p:txBody>
      </p:sp>
      <p:sp>
        <p:nvSpPr>
          <p:cNvPr id="10" name="support:scientific:B:title"/>
          <p:cNvSpPr txBox="1"/>
          <p:nvPr/>
        </p:nvSpPr>
        <p:spPr>
          <a:xfrm>
            <a:off x="4782312" y="1723136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B. Missed Instability Rate (% Blackouts)</a:t>
            </a:r>
            <a:endParaRPr lang="en-US" sz="1300" dirty="0"/>
          </a:p>
        </p:txBody>
      </p:sp>
      <p:pic>
        <p:nvPicPr>
          <p:cNvPr id="11" name="scientific:B:image" descr="d:\Sanskar\programming\projects\EE Minor Project\reports\figures\generalization_missed_insta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328" y="2099056"/>
            <a:ext cx="2305304" cy="1152652"/>
          </a:xfrm>
          <a:prstGeom prst="rect">
            <a:avLst/>
          </a:prstGeom>
        </p:spPr>
      </p:pic>
      <p:sp>
        <p:nvSpPr>
          <p:cNvPr id="12" name="metadata:scientific:B:caption"/>
          <p:cNvSpPr txBox="1"/>
          <p:nvPr/>
        </p:nvSpPr>
        <p:spPr>
          <a:xfrm>
            <a:off x="4782312" y="3324860"/>
            <a:ext cx="3831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misses 31.6% of blackouts on heavy loads; MLP maintains 0–2.6% error.</a:t>
            </a:r>
            <a:endParaRPr lang="en-US" sz="900" dirty="0"/>
          </a:p>
        </p:txBody>
      </p:sp>
      <p:sp>
        <p:nvSpPr>
          <p:cNvPr id="13" name="scientific:complete-readout"/>
          <p:cNvSpPr txBox="1"/>
          <p:nvPr/>
        </p:nvSpPr>
        <p:spPr>
          <a:xfrm>
            <a:off x="585216" y="3974084"/>
            <a:ext cx="7973568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suffer severe extrapolation failure on heavy loads because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cuts saturate, while smooth MLP activations extrapolate reliably.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reports/figures/generalization_gap.png • reports/figures/generalization_missed_instability.png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Equal Area Criterion Impulse Cuts Blackout Risk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632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discrete topological identifiers with physical invariants restores transferability</a:t>
            </a:r>
            <a:endParaRPr lang="en-US" sz="1300" dirty="0"/>
          </a:p>
        </p:txBody>
      </p:sp>
      <p:sp>
        <p:nvSpPr>
          <p:cNvPr id="7" name="role-contract-slot:comparison:option-0"/>
          <p:cNvSpPr/>
          <p:nvPr/>
        </p:nvSpPr>
        <p:spPr>
          <a:xfrm>
            <a:off x="457200" y="1273048"/>
            <a:ext cx="3867912" cy="334010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8" name="comparison:0:title"/>
          <p:cNvSpPr txBox="1"/>
          <p:nvPr/>
        </p:nvSpPr>
        <p:spPr>
          <a:xfrm>
            <a:off x="603504" y="1419352"/>
            <a:ext cx="35753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Discrete Bus Features</a:t>
            </a:r>
            <a:endParaRPr lang="en-US" sz="1500" dirty="0"/>
          </a:p>
        </p:txBody>
      </p:sp>
      <p:sp>
        <p:nvSpPr>
          <p:cNvPr id="9" name="comparison:0:body"/>
          <p:cNvSpPr txBox="1"/>
          <p:nvPr/>
        </p:nvSpPr>
        <p:spPr>
          <a:xfrm>
            <a:off x="603504" y="1891792"/>
            <a:ext cx="3575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discrete bus index or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 graph distance.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algorithms create brittle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specific bus IDs.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unseen generator Bus 39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(15.2% blackout error).</a:t>
            </a:r>
            <a:endParaRPr lang="en-US" sz="1500" dirty="0"/>
          </a:p>
        </p:txBody>
      </p:sp>
      <p:sp>
        <p:nvSpPr>
          <p:cNvPr id="10" name="role-contract-slot:comparison:option-1"/>
          <p:cNvSpPr/>
          <p:nvPr/>
        </p:nvSpPr>
        <p:spPr>
          <a:xfrm>
            <a:off x="4818888" y="1273048"/>
            <a:ext cx="3867912" cy="334010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1" name="comparison:1:title"/>
          <p:cNvSpPr txBox="1"/>
          <p:nvPr/>
        </p:nvSpPr>
        <p:spPr>
          <a:xfrm>
            <a:off x="4965192" y="1419352"/>
            <a:ext cx="35753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Physics-Informed EAC Impulse</a:t>
            </a:r>
            <a:endParaRPr lang="en-US" sz="1500" dirty="0"/>
          </a:p>
        </p:txBody>
      </p:sp>
      <p:sp>
        <p:nvSpPr>
          <p:cNvPr id="12" name="comparison:1:body"/>
          <p:cNvSpPr txBox="1"/>
          <p:nvPr/>
        </p:nvSpPr>
        <p:spPr>
          <a:xfrm>
            <a:off x="4965192" y="1891792"/>
            <a:ext cx="3575304" cy="184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invariant: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v_sag_impulse = (1 - v_min) *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t_clear.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mathematical proxy for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acceleration area.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Random Forest blackout error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15.2% down to 7.1%.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docs/adr/0005-physics-informed-features-vs-black-box.md • Equal Area Criterion (EAC)</a:t>
            </a:r>
            <a:endParaRPr lang="en-US" sz="900" dirty="0"/>
          </a:p>
        </p:txBody>
      </p:sp>
      <p:sp>
        <p:nvSpPr>
          <p:cNvPr id="15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91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Clearing Time: &gt;33,000x Computational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Speedup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1055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ML regression vs 24-second ANDES numerical bisection search</a:t>
            </a:r>
            <a:endParaRPr lang="en-US" sz="1300" dirty="0"/>
          </a:p>
        </p:txBody>
      </p:sp>
      <p:sp>
        <p:nvSpPr>
          <p:cNvPr id="7" name="role-contract-slot:evidence:0"/>
          <p:cNvSpPr/>
          <p:nvPr/>
        </p:nvSpPr>
        <p:spPr>
          <a:xfrm>
            <a:off x="457200" y="1604264"/>
            <a:ext cx="2424989" cy="2972308"/>
          </a:xfrm>
          <a:prstGeom prst="rect">
            <a:avLst/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4264"/>
            <a:ext cx="41148" cy="29723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evidence:0:value"/>
          <p:cNvSpPr txBox="1"/>
          <p:nvPr/>
        </p:nvSpPr>
        <p:spPr>
          <a:xfrm>
            <a:off x="530352" y="1677416"/>
            <a:ext cx="2278685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33,000x</a:t>
            </a:r>
            <a:endParaRPr lang="en-US" sz="3200" dirty="0"/>
          </a:p>
        </p:txBody>
      </p:sp>
      <p:sp>
        <p:nvSpPr>
          <p:cNvPr id="10" name="evidence:0:label"/>
          <p:cNvSpPr txBox="1"/>
          <p:nvPr/>
        </p:nvSpPr>
        <p:spPr>
          <a:xfrm>
            <a:off x="530352" y="2417064"/>
            <a:ext cx="22786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Speedup</a:t>
            </a:r>
            <a:endParaRPr lang="en-US" sz="1500" dirty="0"/>
          </a:p>
        </p:txBody>
      </p:sp>
      <p:sp>
        <p:nvSpPr>
          <p:cNvPr id="11" name="evidence:0:caption"/>
          <p:cNvSpPr txBox="1"/>
          <p:nvPr/>
        </p:nvSpPr>
        <p:spPr>
          <a:xfrm>
            <a:off x="530352" y="2880360"/>
            <a:ext cx="22786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 ms XGBoost 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 ms Ridge vs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23.88 s ANDES TDS</a:t>
            </a:r>
            <a:endParaRPr lang="en-US" sz="1500" dirty="0"/>
          </a:p>
        </p:txBody>
      </p:sp>
      <p:sp>
        <p:nvSpPr>
          <p:cNvPr id="12" name="role-contract-slot:evidence:1"/>
          <p:cNvSpPr/>
          <p:nvPr/>
        </p:nvSpPr>
        <p:spPr>
          <a:xfrm>
            <a:off x="3028493" y="1604264"/>
            <a:ext cx="5658307" cy="1413002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28493" y="1604264"/>
            <a:ext cx="41148" cy="141300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evidence:1:value"/>
          <p:cNvSpPr txBox="1"/>
          <p:nvPr/>
        </p:nvSpPr>
        <p:spPr>
          <a:xfrm>
            <a:off x="3101645" y="1677416"/>
            <a:ext cx="1014241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ms</a:t>
            </a:r>
            <a:endParaRPr lang="en-US" sz="2400" dirty="0"/>
          </a:p>
        </p:txBody>
      </p:sp>
      <p:sp>
        <p:nvSpPr>
          <p:cNvPr id="15" name="evidence:1:label"/>
          <p:cNvSpPr txBox="1"/>
          <p:nvPr/>
        </p:nvSpPr>
        <p:spPr>
          <a:xfrm>
            <a:off x="4170750" y="1677416"/>
            <a:ext cx="12677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500" dirty="0"/>
          </a:p>
        </p:txBody>
      </p:sp>
      <p:sp>
        <p:nvSpPr>
          <p:cNvPr id="16" name="evidence:1:caption"/>
          <p:cNvSpPr txBox="1"/>
          <p:nvPr/>
        </p:nvSpPr>
        <p:spPr>
          <a:xfrm>
            <a:off x="5529950" y="1677416"/>
            <a:ext cx="3083698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cycles accuracy on 60 Hz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grid; R² = 0.9636</a:t>
            </a:r>
            <a:endParaRPr lang="en-US" sz="1500" dirty="0"/>
          </a:p>
        </p:txBody>
      </p:sp>
      <p:sp>
        <p:nvSpPr>
          <p:cNvPr id="17" name="role-contract-slot:evidence:2"/>
          <p:cNvSpPr/>
          <p:nvPr/>
        </p:nvSpPr>
        <p:spPr>
          <a:xfrm>
            <a:off x="3028493" y="3163570"/>
            <a:ext cx="5658307" cy="1413002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28493" y="3163570"/>
            <a:ext cx="41148" cy="14130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evidence:2:value"/>
          <p:cNvSpPr txBox="1"/>
          <p:nvPr/>
        </p:nvSpPr>
        <p:spPr>
          <a:xfrm>
            <a:off x="3101645" y="3236722"/>
            <a:ext cx="1300432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0.04 ms</a:t>
            </a:r>
            <a:endParaRPr lang="en-US" sz="2400" dirty="0"/>
          </a:p>
        </p:txBody>
      </p:sp>
      <p:sp>
        <p:nvSpPr>
          <p:cNvPr id="20" name="evidence:2:label"/>
          <p:cNvSpPr txBox="1"/>
          <p:nvPr/>
        </p:nvSpPr>
        <p:spPr>
          <a:xfrm>
            <a:off x="4456941" y="3236722"/>
            <a:ext cx="1267761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Ultra-Low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1500" dirty="0"/>
          </a:p>
        </p:txBody>
      </p:sp>
      <p:sp>
        <p:nvSpPr>
          <p:cNvPr id="21" name="evidence:2:caption"/>
          <p:cNvSpPr txBox="1"/>
          <p:nvPr/>
        </p:nvSpPr>
        <p:spPr>
          <a:xfrm>
            <a:off x="5816142" y="3236722"/>
            <a:ext cx="27975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dynamic margin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directly inside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SCADA/EMS cycles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reports/cct_results.json • 45 Operating Conditions Benchmark</a:t>
            </a:r>
            <a:endParaRPr lang="en-US" sz="900" dirty="0"/>
          </a:p>
        </p:txBody>
      </p:sp>
      <p:sp>
        <p:nvSpPr>
          <p:cNvPr id="2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CCT Regressor Parity &amp; Latency Comparison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632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parity plot and logarithmic execution time comparison</a:t>
            </a:r>
            <a:endParaRPr lang="en-US" sz="1300" dirty="0"/>
          </a:p>
        </p:txBody>
      </p:sp>
      <p:sp>
        <p:nvSpPr>
          <p:cNvPr id="7" name="support:scientific:A:title"/>
          <p:cNvSpPr txBox="1"/>
          <p:nvPr/>
        </p:nvSpPr>
        <p:spPr>
          <a:xfrm>
            <a:off x="530352" y="1300480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CCT Regressor Parity Plot</a:t>
            </a:r>
            <a:endParaRPr lang="en-US" sz="1300" dirty="0"/>
          </a:p>
        </p:txBody>
      </p:sp>
      <p:pic>
        <p:nvPicPr>
          <p:cNvPr id="8" name="scientific:A:image" descr="d:\Sanskar\programming\projects\EE Minor Project\reports\figures\cct_parity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90" y="1676400"/>
            <a:ext cx="1837859" cy="1575308"/>
          </a:xfrm>
          <a:prstGeom prst="rect">
            <a:avLst/>
          </a:prstGeom>
        </p:spPr>
      </p:pic>
      <p:sp>
        <p:nvSpPr>
          <p:cNvPr id="9" name="metadata:scientific:A:caption"/>
          <p:cNvSpPr txBox="1"/>
          <p:nvPr/>
        </p:nvSpPr>
        <p:spPr>
          <a:xfrm>
            <a:off x="530352" y="3324860"/>
            <a:ext cx="3831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(R² = 0.9636) tightly tracks ANDES bisection ground truth.</a:t>
            </a:r>
            <a:endParaRPr lang="en-US" sz="900" dirty="0"/>
          </a:p>
        </p:txBody>
      </p:sp>
      <p:sp>
        <p:nvSpPr>
          <p:cNvPr id="10" name="support:scientific:B:title"/>
          <p:cNvSpPr txBox="1"/>
          <p:nvPr/>
        </p:nvSpPr>
        <p:spPr>
          <a:xfrm>
            <a:off x="4782312" y="1300480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B. Execution Latency (Log Scale)</a:t>
            </a:r>
            <a:endParaRPr lang="en-US" sz="1300" dirty="0"/>
          </a:p>
        </p:txBody>
      </p:sp>
      <p:pic>
        <p:nvPicPr>
          <p:cNvPr id="11" name="scientific:B:image" descr="d:\Sanskar\programming\projects\EE Minor Project\reports\figures\cct_speed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734" y="1676400"/>
            <a:ext cx="2520493" cy="1575308"/>
          </a:xfrm>
          <a:prstGeom prst="rect">
            <a:avLst/>
          </a:prstGeom>
        </p:spPr>
      </p:pic>
      <p:sp>
        <p:nvSpPr>
          <p:cNvPr id="12" name="metadata:scientific:B:caption"/>
          <p:cNvSpPr txBox="1"/>
          <p:nvPr/>
        </p:nvSpPr>
        <p:spPr>
          <a:xfrm>
            <a:off x="4782312" y="3324860"/>
            <a:ext cx="3831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ANDES takes 23.88 seconds; ML regressors infer in 0.04 to 0.70 milliseconds.</a:t>
            </a:r>
            <a:endParaRPr lang="en-US" sz="900" dirty="0"/>
          </a:p>
        </p:txBody>
      </p:sp>
      <p:sp>
        <p:nvSpPr>
          <p:cNvPr id="13" name="scientific:complete-readout"/>
          <p:cNvSpPr txBox="1"/>
          <p:nvPr/>
        </p:nvSpPr>
        <p:spPr>
          <a:xfrm>
            <a:off x="585216" y="3974084"/>
            <a:ext cx="7973568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achieves R²=0.9636 and XGBoost achieves R²=0.9382, matching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simulation accuracy at a fraction of the time.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reports/figures/cct_parity_plot.png • reports/figures/cct_speed_comparison.png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91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TreeSHAP Explainability Validates Swing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Equation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1055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feature attributions mathematically match rotor acceleration dynamics</a:t>
            </a:r>
            <a:endParaRPr lang="en-US" sz="1300" dirty="0"/>
          </a:p>
        </p:txBody>
      </p:sp>
      <p:sp>
        <p:nvSpPr>
          <p:cNvPr id="7" name="support:scientific:A:title"/>
          <p:cNvSpPr txBox="1"/>
          <p:nvPr/>
        </p:nvSpPr>
        <p:spPr>
          <a:xfrm>
            <a:off x="530352" y="1723136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Global SHAP Feature Attributions</a:t>
            </a:r>
            <a:endParaRPr lang="en-US" sz="1300" dirty="0"/>
          </a:p>
        </p:txBody>
      </p:sp>
      <p:pic>
        <p:nvPicPr>
          <p:cNvPr id="8" name="scientific:A:image" descr="d:\Sanskar\programming\projects\EE Minor Project\reports\figures\shap_summary_beesw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151" y="2099056"/>
            <a:ext cx="1341737" cy="1152652"/>
          </a:xfrm>
          <a:prstGeom prst="rect">
            <a:avLst/>
          </a:prstGeom>
        </p:spPr>
      </p:pic>
      <p:sp>
        <p:nvSpPr>
          <p:cNvPr id="9" name="metadata:scientific:A:caption"/>
          <p:cNvSpPr txBox="1"/>
          <p:nvPr/>
        </p:nvSpPr>
        <p:spPr>
          <a:xfrm>
            <a:off x="530352" y="3324860"/>
            <a:ext cx="3831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minimum system voltage dominate (|SHAP| = 3.75), governing Pe drop.</a:t>
            </a:r>
            <a:endParaRPr lang="en-US" sz="900" dirty="0"/>
          </a:p>
        </p:txBody>
      </p:sp>
      <p:sp>
        <p:nvSpPr>
          <p:cNvPr id="10" name="support:scientific:B:title"/>
          <p:cNvSpPr txBox="1"/>
          <p:nvPr/>
        </p:nvSpPr>
        <p:spPr>
          <a:xfrm>
            <a:off x="4782312" y="1723136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B. Local Waterfall: Unstable Scenario</a:t>
            </a:r>
            <a:endParaRPr lang="en-US" sz="1300" dirty="0"/>
          </a:p>
        </p:txBody>
      </p:sp>
      <p:pic>
        <p:nvPicPr>
          <p:cNvPr id="11" name="scientific:B:image" descr="d:\Sanskar\programming\projects\EE Minor Project\reports\figures\shap_waterfall_uns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008" y="2099056"/>
            <a:ext cx="1823945" cy="1152652"/>
          </a:xfrm>
          <a:prstGeom prst="rect">
            <a:avLst/>
          </a:prstGeom>
        </p:spPr>
      </p:pic>
      <p:sp>
        <p:nvSpPr>
          <p:cNvPr id="12" name="metadata:scientific:B:caption"/>
          <p:cNvSpPr txBox="1"/>
          <p:nvPr/>
        </p:nvSpPr>
        <p:spPr>
          <a:xfrm>
            <a:off x="4782312" y="3324860"/>
            <a:ext cx="3831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voltage sag (-3.48 SHAP) pushes scenario decisively into instability.</a:t>
            </a:r>
            <a:endParaRPr lang="en-US" sz="900" dirty="0"/>
          </a:p>
        </p:txBody>
      </p:sp>
      <p:sp>
        <p:nvSpPr>
          <p:cNvPr id="13" name="scientific:complete-readout"/>
          <p:cNvSpPr txBox="1"/>
          <p:nvPr/>
        </p:nvSpPr>
        <p:spPr>
          <a:xfrm>
            <a:off x="585216" y="3974084"/>
            <a:ext cx="7973568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ML attributions strictly align with the Swing Equation (M*d²delta/dt² =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- Pe): electrical power delivery during the fault determines stability.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research/shap-explainability-report.md • ADR-0006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Digital Twin Streamlit Dashboard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632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operator interface bridging simulation, ML prediction, and physical intuition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69467"/>
            <a:ext cx="2377440" cy="3109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980440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role-contract-slot:evidence:0"/>
          <p:cNvSpPr/>
          <p:nvPr/>
        </p:nvSpPr>
        <p:spPr>
          <a:xfrm>
            <a:off x="457200" y="1181608"/>
            <a:ext cx="2424989" cy="3394964"/>
          </a:xfrm>
          <a:prstGeom prst="rect">
            <a:avLst/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1608"/>
            <a:ext cx="41148" cy="33949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evidence:0:label"/>
          <p:cNvSpPr txBox="1"/>
          <p:nvPr/>
        </p:nvSpPr>
        <p:spPr>
          <a:xfrm>
            <a:off x="530352" y="1254760"/>
            <a:ext cx="227868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Operating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Controls</a:t>
            </a:r>
            <a:endParaRPr lang="en-US" sz="1500" dirty="0"/>
          </a:p>
        </p:txBody>
      </p:sp>
      <p:sp>
        <p:nvSpPr>
          <p:cNvPr id="12" name="evidence:0:caption"/>
          <p:cNvSpPr txBox="1"/>
          <p:nvPr/>
        </p:nvSpPr>
        <p:spPr>
          <a:xfrm>
            <a:off x="530352" y="1961896"/>
            <a:ext cx="2278685" cy="184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dynamically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load scale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(0.8–1.2), fault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clearing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(0.05–0.35s),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line outages in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time.</a:t>
            </a:r>
            <a:endParaRPr lang="en-US" sz="1500" dirty="0"/>
          </a:p>
        </p:txBody>
      </p:sp>
      <p:sp>
        <p:nvSpPr>
          <p:cNvPr id="13" name="role-contract-slot:evidence:1"/>
          <p:cNvSpPr/>
          <p:nvPr/>
        </p:nvSpPr>
        <p:spPr>
          <a:xfrm>
            <a:off x="3028493" y="1181608"/>
            <a:ext cx="5658307" cy="162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28493" y="1181608"/>
            <a:ext cx="41148" cy="162433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evidence:1:label"/>
          <p:cNvSpPr txBox="1"/>
          <p:nvPr/>
        </p:nvSpPr>
        <p:spPr>
          <a:xfrm>
            <a:off x="3101645" y="1254760"/>
            <a:ext cx="1267761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Output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</a:t>
            </a:r>
            <a:endParaRPr lang="en-US" sz="1500" dirty="0"/>
          </a:p>
        </p:txBody>
      </p:sp>
      <p:sp>
        <p:nvSpPr>
          <p:cNvPr id="16" name="evidence:1:caption"/>
          <p:cNvSpPr txBox="1"/>
          <p:nvPr/>
        </p:nvSpPr>
        <p:spPr>
          <a:xfrm>
            <a:off x="4460846" y="1254760"/>
            <a:ext cx="41528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STABLE/UNSTABLE badge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continuous CCT safety margin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gauge.</a:t>
            </a:r>
            <a:endParaRPr lang="en-US" sz="1500" dirty="0"/>
          </a:p>
        </p:txBody>
      </p:sp>
      <p:sp>
        <p:nvSpPr>
          <p:cNvPr id="17" name="role-contract-slot:evidence:2"/>
          <p:cNvSpPr/>
          <p:nvPr/>
        </p:nvSpPr>
        <p:spPr>
          <a:xfrm>
            <a:off x="3028493" y="2952242"/>
            <a:ext cx="5658307" cy="162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28493" y="2952242"/>
            <a:ext cx="41148" cy="162433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evidence:2:label"/>
          <p:cNvSpPr txBox="1"/>
          <p:nvPr/>
        </p:nvSpPr>
        <p:spPr>
          <a:xfrm>
            <a:off x="3101645" y="3025394"/>
            <a:ext cx="148849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SHAP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Decomposition</a:t>
            </a:r>
            <a:endParaRPr lang="en-US" sz="1500" dirty="0"/>
          </a:p>
        </p:txBody>
      </p:sp>
      <p:sp>
        <p:nvSpPr>
          <p:cNvPr id="20" name="evidence:2:caption"/>
          <p:cNvSpPr txBox="1"/>
          <p:nvPr/>
        </p:nvSpPr>
        <p:spPr>
          <a:xfrm>
            <a:off x="4681580" y="3025394"/>
            <a:ext cx="39320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waterfall plot explaining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feature attributions driving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individual scenario prediction.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app/streamlit_app.py • Run via: python -m streamlit run app/streamlit_app.py</a:t>
            </a:r>
            <a:endParaRPr lang="en-US" sz="900" dirty="0"/>
          </a:p>
        </p:txBody>
      </p:sp>
      <p:sp>
        <p:nvSpPr>
          <p:cNvPr id="2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Architecture Decision Records (ADRs)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632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software and research engineering documentation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69467"/>
            <a:ext cx="2377440" cy="3109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980440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16" name="Editable table: 7 Architecture Decision Records (ADRs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73048"/>
          <a:ext cx="6024067" cy="3394964"/>
        </p:xfrm>
        <a:graphic>
          <a:graphicData uri="http://schemas.openxmlformats.org/drawingml/2006/table">
            <a:tbl>
              <a:tblPr/>
              <a:tblGrid>
                <a:gridCol w="1380515"/>
                <a:gridCol w="1757020"/>
                <a:gridCol w="2886532"/>
              </a:tblGrid>
              <a:tr h="4839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ADRs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Focus Area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Architecture Decision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277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ADR-0001/2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&amp; Labels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ANDES DAE solver + COI 180° rotor criterion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77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ADR-0003/4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 &amp; Models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condition splits + continuous MLP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277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ADR-0005/6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 &amp; XAI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 acceleration impulse + TreeSHAP XAI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77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 Benchmark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ANDES bisection ground truth for ML speedup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docs/adr/README.md • ADR-0001 through ADR-0007</a:t>
            </a:r>
            <a:endParaRPr lang="en-US" sz="900" dirty="0"/>
          </a:p>
        </p:txBody>
      </p:sp>
      <p:sp>
        <p:nvSpPr>
          <p:cNvPr id="1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5" name="slide-title:content"/>
          <p:cNvSpPr txBox="1"/>
          <p:nvPr/>
        </p:nvSpPr>
        <p:spPr>
          <a:xfrm>
            <a:off x="457200" y="91440"/>
            <a:ext cx="8229600" cy="91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Minor Project Conclusion &amp; 8th Semester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2600" dirty="0"/>
          </a:p>
        </p:txBody>
      </p:sp>
      <p:sp>
        <p:nvSpPr>
          <p:cNvPr id="6" name="support:slide-subtitle"/>
          <p:cNvSpPr txBox="1"/>
          <p:nvPr/>
        </p:nvSpPr>
        <p:spPr>
          <a:xfrm>
            <a:off x="457200" y="1055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objectives completed; transition into advanced representation learning</a:t>
            </a:r>
            <a:endParaRPr lang="en-US" sz="1300" dirty="0"/>
          </a:p>
        </p:txBody>
      </p:sp>
      <p:sp>
        <p:nvSpPr>
          <p:cNvPr id="7" name="role-contract-slot:comparison:option-0"/>
          <p:cNvSpPr/>
          <p:nvPr/>
        </p:nvSpPr>
        <p:spPr>
          <a:xfrm>
            <a:off x="457200" y="1695704"/>
            <a:ext cx="3867912" cy="2917444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8" name="comparison:0:title"/>
          <p:cNvSpPr txBox="1"/>
          <p:nvPr/>
        </p:nvSpPr>
        <p:spPr>
          <a:xfrm>
            <a:off x="603504" y="1842008"/>
            <a:ext cx="35753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Minor Deliverables (Completed)</a:t>
            </a:r>
            <a:endParaRPr lang="en-US" sz="1500" dirty="0"/>
          </a:p>
        </p:txBody>
      </p:sp>
      <p:sp>
        <p:nvSpPr>
          <p:cNvPr id="9" name="comparison:0:body"/>
          <p:cNvSpPr txBox="1"/>
          <p:nvPr/>
        </p:nvSpPr>
        <p:spPr>
          <a:xfrm>
            <a:off x="603504" y="2314448"/>
            <a:ext cx="3575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450-scenario ANDES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with COI 180° rule.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generalization tests +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33,000x CCT regression.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explainability +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demo.</a:t>
            </a:r>
            <a:endParaRPr lang="en-US" sz="1500" dirty="0"/>
          </a:p>
        </p:txBody>
      </p:sp>
      <p:sp>
        <p:nvSpPr>
          <p:cNvPr id="10" name="role-contract-slot:comparison:option-1"/>
          <p:cNvSpPr/>
          <p:nvPr/>
        </p:nvSpPr>
        <p:spPr>
          <a:xfrm>
            <a:off x="4818888" y="1695704"/>
            <a:ext cx="3867912" cy="2917444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1" name="comparison:1:title"/>
          <p:cNvSpPr txBox="1"/>
          <p:nvPr/>
        </p:nvSpPr>
        <p:spPr>
          <a:xfrm>
            <a:off x="4965192" y="1842008"/>
            <a:ext cx="35753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Roadmap (8th Semester)</a:t>
            </a:r>
            <a:endParaRPr lang="en-US" sz="1500" dirty="0"/>
          </a:p>
        </p:txBody>
      </p:sp>
      <p:sp>
        <p:nvSpPr>
          <p:cNvPr id="12" name="comparison:1:body"/>
          <p:cNvSpPr txBox="1"/>
          <p:nvPr/>
        </p:nvSpPr>
        <p:spPr>
          <a:xfrm>
            <a:off x="4965192" y="2314448"/>
            <a:ext cx="35753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GNN on admittance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Y_bus.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JEPA 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PMU time-series.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 (HIL)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co-simulation.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Raipur • EE Minor Project (7th Sem): roadmap.md • National Institute of Technology (NIT) Raipur</a:t>
            </a:r>
            <a:endParaRPr lang="en-US" sz="900" dirty="0"/>
          </a:p>
        </p:txBody>
      </p:sp>
      <p:sp>
        <p:nvSpPr>
          <p:cNvPr id="15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 Stability Prediction &amp; CCT Estimation</dc:title>
  <dc:subject>Physics-Guided Machine Learning on IEEE 39-Bus New England System</dc:subject>
  <dc:creator>Presentation Team</dc:creator>
  <cp:lastModifiedBy>Presentation Team</cp:lastModifiedBy>
  <cp:revision>1</cp:revision>
  <dcterms:created xsi:type="dcterms:W3CDTF">2026-10-25T21:04:28Z</dcterms:created>
  <dcterms:modified xsi:type="dcterms:W3CDTF">2026-10-25T21:04:28Z</dcterms:modified>
</cp:coreProperties>
</file>